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Poppins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7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7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oleObject" Target="../embeddings/oleObject1.bin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7.svg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5F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94468" y="8785960"/>
            <a:ext cx="4676630" cy="1982844"/>
          </a:xfrm>
          <a:custGeom>
            <a:avLst/>
            <a:gdLst/>
            <a:ahLst/>
            <a:cxnLst/>
            <a:rect l="l" t="t" r="r" b="b"/>
            <a:pathLst>
              <a:path w="4676630" h="1982844">
                <a:moveTo>
                  <a:pt x="0" y="0"/>
                </a:moveTo>
                <a:lnTo>
                  <a:pt x="4676629" y="0"/>
                </a:lnTo>
                <a:lnTo>
                  <a:pt x="4676629" y="1982845"/>
                </a:lnTo>
                <a:lnTo>
                  <a:pt x="0" y="1982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14430689" y="-481805"/>
            <a:ext cx="4451779" cy="1887510"/>
          </a:xfrm>
          <a:custGeom>
            <a:avLst/>
            <a:gdLst/>
            <a:ahLst/>
            <a:cxnLst/>
            <a:rect l="l" t="t" r="r" b="b"/>
            <a:pathLst>
              <a:path w="4451779" h="1887510">
                <a:moveTo>
                  <a:pt x="0" y="0"/>
                </a:moveTo>
                <a:lnTo>
                  <a:pt x="4451779" y="0"/>
                </a:lnTo>
                <a:lnTo>
                  <a:pt x="4451779" y="1887510"/>
                </a:lnTo>
                <a:lnTo>
                  <a:pt x="0" y="1887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532486" y="2978602"/>
            <a:ext cx="1243380" cy="621690"/>
          </a:xfrm>
          <a:custGeom>
            <a:avLst/>
            <a:gdLst/>
            <a:ahLst/>
            <a:cxnLst/>
            <a:rect l="l" t="t" r="r" b="b"/>
            <a:pathLst>
              <a:path w="1243380" h="621690">
                <a:moveTo>
                  <a:pt x="0" y="0"/>
                </a:moveTo>
                <a:lnTo>
                  <a:pt x="1243380" y="0"/>
                </a:lnTo>
                <a:lnTo>
                  <a:pt x="1243380" y="621690"/>
                </a:lnTo>
                <a:lnTo>
                  <a:pt x="0" y="62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V="1">
            <a:off x="16512134" y="6686708"/>
            <a:ext cx="1243380" cy="621690"/>
          </a:xfrm>
          <a:custGeom>
            <a:avLst/>
            <a:gdLst/>
            <a:ahLst/>
            <a:cxnLst/>
            <a:rect l="l" t="t" r="r" b="b"/>
            <a:pathLst>
              <a:path w="1243380" h="621690">
                <a:moveTo>
                  <a:pt x="0" y="621690"/>
                </a:moveTo>
                <a:lnTo>
                  <a:pt x="1243380" y="621690"/>
                </a:lnTo>
                <a:lnTo>
                  <a:pt x="1243380" y="0"/>
                </a:lnTo>
                <a:lnTo>
                  <a:pt x="0" y="0"/>
                </a:lnTo>
                <a:lnTo>
                  <a:pt x="0" y="6216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10800000">
            <a:off x="1028295" y="8258931"/>
            <a:ext cx="999369" cy="999369"/>
          </a:xfrm>
          <a:custGeom>
            <a:avLst/>
            <a:gdLst/>
            <a:ahLst/>
            <a:cxnLst/>
            <a:rect l="l" t="t" r="r" b="b"/>
            <a:pathLst>
              <a:path w="999369" h="999369">
                <a:moveTo>
                  <a:pt x="0" y="0"/>
                </a:moveTo>
                <a:lnTo>
                  <a:pt x="999369" y="0"/>
                </a:lnTo>
                <a:lnTo>
                  <a:pt x="999369" y="999369"/>
                </a:lnTo>
                <a:lnTo>
                  <a:pt x="0" y="9993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10800000">
            <a:off x="16296988" y="1028700"/>
            <a:ext cx="962717" cy="962717"/>
          </a:xfrm>
          <a:custGeom>
            <a:avLst/>
            <a:gdLst/>
            <a:ahLst/>
            <a:cxnLst/>
            <a:rect l="l" t="t" r="r" b="b"/>
            <a:pathLst>
              <a:path w="962717" h="962717">
                <a:moveTo>
                  <a:pt x="0" y="0"/>
                </a:moveTo>
                <a:lnTo>
                  <a:pt x="962717" y="0"/>
                </a:lnTo>
                <a:lnTo>
                  <a:pt x="962717" y="962717"/>
                </a:lnTo>
                <a:lnTo>
                  <a:pt x="0" y="962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922046" y="75349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flipH="1" flipV="1">
            <a:off x="-748846" y="-13627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4812094" y="101245"/>
            <a:ext cx="3485431" cy="1114464"/>
          </a:xfrm>
          <a:custGeom>
            <a:avLst/>
            <a:gdLst/>
            <a:ahLst/>
            <a:cxnLst/>
            <a:rect l="l" t="t" r="r" b="b"/>
            <a:pathLst>
              <a:path w="3485431" h="1114464">
                <a:moveTo>
                  <a:pt x="0" y="0"/>
                </a:moveTo>
                <a:lnTo>
                  <a:pt x="3485431" y="0"/>
                </a:lnTo>
                <a:lnTo>
                  <a:pt x="3485431" y="1114464"/>
                </a:lnTo>
                <a:lnTo>
                  <a:pt x="0" y="11144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6016216" y="420352"/>
            <a:ext cx="6255567" cy="4425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67"/>
              </a:lnSpc>
            </a:pPr>
            <a:r>
              <a:rPr lang="en-US" sz="8262" b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SOA Project Review-1</a:t>
            </a:r>
          </a:p>
          <a:p>
            <a:pPr algn="ctr">
              <a:lnSpc>
                <a:spcPts val="11567"/>
              </a:lnSpc>
            </a:pPr>
            <a:endParaRPr lang="en-US" sz="8262" b="1">
              <a:solidFill>
                <a:srgbClr val="FFF6EA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566437" y="6232230"/>
            <a:ext cx="4861501" cy="1669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341" b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Team Members</a:t>
            </a:r>
          </a:p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341" b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 P. Kavya Sai - 2420030322</a:t>
            </a:r>
          </a:p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341" b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 K. N. C .Sphoorthy - 2420030510</a:t>
            </a:r>
          </a:p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341" b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D. Poojitha - 2420030697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0182" y="4228264"/>
            <a:ext cx="16935331" cy="617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8"/>
              </a:lnSpc>
              <a:spcBef>
                <a:spcPct val="0"/>
              </a:spcBef>
            </a:pPr>
            <a:r>
              <a:rPr lang="en-US" sz="3441" b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Smart Item Recovery Portal AI Driven Smart Matching Management System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8961" y="5940931"/>
            <a:ext cx="7830621" cy="2094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341" b="1" dirty="0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Under the Guidance of</a:t>
            </a:r>
          </a:p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341" b="1" dirty="0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Dr. P. </a:t>
            </a:r>
            <a:r>
              <a:rPr lang="en-US" sz="2341" b="1" dirty="0" err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Krishnanjaneyulu</a:t>
            </a:r>
            <a:endParaRPr lang="en-US" sz="2341" b="1" dirty="0">
              <a:solidFill>
                <a:srgbClr val="FFF6EA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341" b="1" dirty="0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Assistant Professor, </a:t>
            </a:r>
          </a:p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341" b="1" dirty="0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and Engineering, </a:t>
            </a:r>
          </a:p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341" b="1" dirty="0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KLH CSE </a:t>
            </a:r>
            <a:r>
              <a:rPr lang="en-US" sz="2341" b="1" dirty="0" err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Bowrampet</a:t>
            </a:r>
            <a:r>
              <a:rPr lang="en-US" sz="2341" b="1" dirty="0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 Campus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5F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54585" y="173402"/>
            <a:ext cx="11716940" cy="1547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56"/>
              </a:lnSpc>
            </a:pPr>
            <a:r>
              <a:rPr lang="en-US" sz="8611" b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14336032" y="9597532"/>
            <a:ext cx="4676630" cy="1982844"/>
          </a:xfrm>
          <a:custGeom>
            <a:avLst/>
            <a:gdLst/>
            <a:ahLst/>
            <a:cxnLst/>
            <a:rect l="l" t="t" r="r" b="b"/>
            <a:pathLst>
              <a:path w="4676630" h="1982844">
                <a:moveTo>
                  <a:pt x="4676630" y="0"/>
                </a:moveTo>
                <a:lnTo>
                  <a:pt x="0" y="0"/>
                </a:lnTo>
                <a:lnTo>
                  <a:pt x="0" y="1982845"/>
                </a:lnTo>
                <a:lnTo>
                  <a:pt x="4676630" y="1982845"/>
                </a:lnTo>
                <a:lnTo>
                  <a:pt x="467663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V="1">
            <a:off x="-724662" y="-1293377"/>
            <a:ext cx="4676630" cy="1982844"/>
          </a:xfrm>
          <a:custGeom>
            <a:avLst/>
            <a:gdLst/>
            <a:ahLst/>
            <a:cxnLst/>
            <a:rect l="l" t="t" r="r" b="b"/>
            <a:pathLst>
              <a:path w="4676630" h="1982844">
                <a:moveTo>
                  <a:pt x="0" y="1982845"/>
                </a:moveTo>
                <a:lnTo>
                  <a:pt x="4676630" y="1982845"/>
                </a:lnTo>
                <a:lnTo>
                  <a:pt x="4676630" y="0"/>
                </a:lnTo>
                <a:lnTo>
                  <a:pt x="0" y="0"/>
                </a:lnTo>
                <a:lnTo>
                  <a:pt x="0" y="198284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0800000">
            <a:off x="16722485" y="8029713"/>
            <a:ext cx="926065" cy="926065"/>
          </a:xfrm>
          <a:custGeom>
            <a:avLst/>
            <a:gdLst/>
            <a:ahLst/>
            <a:cxnLst/>
            <a:rect l="l" t="t" r="r" b="b"/>
            <a:pathLst>
              <a:path w="926065" h="926065">
                <a:moveTo>
                  <a:pt x="0" y="0"/>
                </a:moveTo>
                <a:lnTo>
                  <a:pt x="926065" y="0"/>
                </a:lnTo>
                <a:lnTo>
                  <a:pt x="926065" y="926065"/>
                </a:lnTo>
                <a:lnTo>
                  <a:pt x="0" y="9260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10800000">
            <a:off x="639450" y="1331222"/>
            <a:ext cx="778500" cy="778500"/>
          </a:xfrm>
          <a:custGeom>
            <a:avLst/>
            <a:gdLst/>
            <a:ahLst/>
            <a:cxnLst/>
            <a:rect l="l" t="t" r="r" b="b"/>
            <a:pathLst>
              <a:path w="778500" h="778500">
                <a:moveTo>
                  <a:pt x="0" y="0"/>
                </a:moveTo>
                <a:lnTo>
                  <a:pt x="778500" y="0"/>
                </a:lnTo>
                <a:lnTo>
                  <a:pt x="778500" y="778500"/>
                </a:lnTo>
                <a:lnTo>
                  <a:pt x="0" y="778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576900" y="8588215"/>
            <a:ext cx="1084891" cy="1084891"/>
          </a:xfrm>
          <a:custGeom>
            <a:avLst/>
            <a:gdLst/>
            <a:ahLst/>
            <a:cxnLst/>
            <a:rect l="l" t="t" r="r" b="b"/>
            <a:pathLst>
              <a:path w="1084891" h="1084891">
                <a:moveTo>
                  <a:pt x="0" y="0"/>
                </a:moveTo>
                <a:lnTo>
                  <a:pt x="1084891" y="0"/>
                </a:lnTo>
                <a:lnTo>
                  <a:pt x="1084891" y="1084891"/>
                </a:lnTo>
                <a:lnTo>
                  <a:pt x="0" y="10848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5285716" y="-1951308"/>
            <a:ext cx="4725669" cy="4725669"/>
          </a:xfrm>
          <a:custGeom>
            <a:avLst/>
            <a:gdLst/>
            <a:ahLst/>
            <a:cxnLst/>
            <a:rect l="l" t="t" r="r" b="b"/>
            <a:pathLst>
              <a:path w="4725669" h="4725669">
                <a:moveTo>
                  <a:pt x="0" y="0"/>
                </a:moveTo>
                <a:lnTo>
                  <a:pt x="4725668" y="0"/>
                </a:lnTo>
                <a:lnTo>
                  <a:pt x="4725668" y="4725669"/>
                </a:lnTo>
                <a:lnTo>
                  <a:pt x="0" y="47256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797755" y="2707686"/>
            <a:ext cx="16230600" cy="1235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341" b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•Traditional lost and found systems mainly depend on manual reporting, record keeping, and searching, which makes the process time-consuming, inefficient, and difficult to manage as the number of users and items increases.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39450" y="4786971"/>
            <a:ext cx="16230600" cy="826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341" b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•Users often have to manually compare the descriptions of lost and found items, while the absence of an intelligent matching mechanism can result in potential matches being missed.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7755" y="7041306"/>
            <a:ext cx="16230600" cy="826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341" b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•In addition, conventional systems may provide limited security, scalability, and flexibility when managing user information and item records.</a:t>
            </a:r>
          </a:p>
        </p:txBody>
      </p:sp>
      <p:sp>
        <p:nvSpPr>
          <p:cNvPr id="12" name="Freeform 12"/>
          <p:cNvSpPr/>
          <p:nvPr/>
        </p:nvSpPr>
        <p:spPr>
          <a:xfrm>
            <a:off x="14802569" y="101245"/>
            <a:ext cx="3485431" cy="1114464"/>
          </a:xfrm>
          <a:custGeom>
            <a:avLst/>
            <a:gdLst/>
            <a:ahLst/>
            <a:cxnLst/>
            <a:rect l="l" t="t" r="r" b="b"/>
            <a:pathLst>
              <a:path w="3485431" h="1114464">
                <a:moveTo>
                  <a:pt x="0" y="0"/>
                </a:moveTo>
                <a:lnTo>
                  <a:pt x="3485431" y="0"/>
                </a:lnTo>
                <a:lnTo>
                  <a:pt x="3485431" y="1114464"/>
                </a:lnTo>
                <a:lnTo>
                  <a:pt x="0" y="11144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5F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93433" y="1523661"/>
            <a:ext cx="11882084" cy="2428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61"/>
              </a:lnSpc>
            </a:pPr>
            <a:r>
              <a:rPr lang="en-US" sz="13472" b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14336032" y="9597532"/>
            <a:ext cx="4676630" cy="1982844"/>
          </a:xfrm>
          <a:custGeom>
            <a:avLst/>
            <a:gdLst/>
            <a:ahLst/>
            <a:cxnLst/>
            <a:rect l="l" t="t" r="r" b="b"/>
            <a:pathLst>
              <a:path w="4676630" h="1982844">
                <a:moveTo>
                  <a:pt x="4676630" y="0"/>
                </a:moveTo>
                <a:lnTo>
                  <a:pt x="0" y="0"/>
                </a:lnTo>
                <a:lnTo>
                  <a:pt x="0" y="1982845"/>
                </a:lnTo>
                <a:lnTo>
                  <a:pt x="4676630" y="1982845"/>
                </a:lnTo>
                <a:lnTo>
                  <a:pt x="467663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V="1">
            <a:off x="-724662" y="-1293377"/>
            <a:ext cx="4676630" cy="1982844"/>
          </a:xfrm>
          <a:custGeom>
            <a:avLst/>
            <a:gdLst/>
            <a:ahLst/>
            <a:cxnLst/>
            <a:rect l="l" t="t" r="r" b="b"/>
            <a:pathLst>
              <a:path w="4676630" h="1982844">
                <a:moveTo>
                  <a:pt x="0" y="1982845"/>
                </a:moveTo>
                <a:lnTo>
                  <a:pt x="4676630" y="1982845"/>
                </a:lnTo>
                <a:lnTo>
                  <a:pt x="4676630" y="0"/>
                </a:lnTo>
                <a:lnTo>
                  <a:pt x="0" y="0"/>
                </a:lnTo>
                <a:lnTo>
                  <a:pt x="0" y="198284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0800000">
            <a:off x="16722485" y="8029713"/>
            <a:ext cx="926065" cy="926065"/>
          </a:xfrm>
          <a:custGeom>
            <a:avLst/>
            <a:gdLst/>
            <a:ahLst/>
            <a:cxnLst/>
            <a:rect l="l" t="t" r="r" b="b"/>
            <a:pathLst>
              <a:path w="926065" h="926065">
                <a:moveTo>
                  <a:pt x="0" y="0"/>
                </a:moveTo>
                <a:lnTo>
                  <a:pt x="926065" y="0"/>
                </a:lnTo>
                <a:lnTo>
                  <a:pt x="926065" y="926065"/>
                </a:lnTo>
                <a:lnTo>
                  <a:pt x="0" y="9260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10800000">
            <a:off x="639450" y="1331222"/>
            <a:ext cx="778500" cy="778500"/>
          </a:xfrm>
          <a:custGeom>
            <a:avLst/>
            <a:gdLst/>
            <a:ahLst/>
            <a:cxnLst/>
            <a:rect l="l" t="t" r="r" b="b"/>
            <a:pathLst>
              <a:path w="778500" h="778500">
                <a:moveTo>
                  <a:pt x="0" y="0"/>
                </a:moveTo>
                <a:lnTo>
                  <a:pt x="778500" y="0"/>
                </a:lnTo>
                <a:lnTo>
                  <a:pt x="778500" y="778500"/>
                </a:lnTo>
                <a:lnTo>
                  <a:pt x="0" y="778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V="1">
            <a:off x="16717160" y="1647980"/>
            <a:ext cx="1065754" cy="532877"/>
          </a:xfrm>
          <a:custGeom>
            <a:avLst/>
            <a:gdLst/>
            <a:ahLst/>
            <a:cxnLst/>
            <a:rect l="l" t="t" r="r" b="b"/>
            <a:pathLst>
              <a:path w="1065754" h="532877">
                <a:moveTo>
                  <a:pt x="0" y="532877"/>
                </a:moveTo>
                <a:lnTo>
                  <a:pt x="1065753" y="532877"/>
                </a:lnTo>
                <a:lnTo>
                  <a:pt x="1065753" y="0"/>
                </a:lnTo>
                <a:lnTo>
                  <a:pt x="0" y="0"/>
                </a:lnTo>
                <a:lnTo>
                  <a:pt x="0" y="53287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-2049412" y="7490359"/>
            <a:ext cx="4725669" cy="4725669"/>
          </a:xfrm>
          <a:custGeom>
            <a:avLst/>
            <a:gdLst/>
            <a:ahLst/>
            <a:cxnLst/>
            <a:rect l="l" t="t" r="r" b="b"/>
            <a:pathLst>
              <a:path w="4725669" h="4725669">
                <a:moveTo>
                  <a:pt x="0" y="0"/>
                </a:moveTo>
                <a:lnTo>
                  <a:pt x="4725669" y="0"/>
                </a:lnTo>
                <a:lnTo>
                  <a:pt x="4725669" y="4725668"/>
                </a:lnTo>
                <a:lnTo>
                  <a:pt x="0" y="4725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183559" y="5349301"/>
            <a:ext cx="16230600" cy="1645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341" b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Our proposed solution to this problem is:</a:t>
            </a:r>
          </a:p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341" b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 A secure, scalable, and intelligent Lost &amp; Found Management System that can automate item management, securely handle user access, and use AI-based matching techniques to identify potential matches between lost and found items</a:t>
            </a:r>
          </a:p>
        </p:txBody>
      </p:sp>
      <p:sp>
        <p:nvSpPr>
          <p:cNvPr id="10" name="Freeform 10"/>
          <p:cNvSpPr/>
          <p:nvPr/>
        </p:nvSpPr>
        <p:spPr>
          <a:xfrm>
            <a:off x="14802569" y="101245"/>
            <a:ext cx="3485431" cy="1114464"/>
          </a:xfrm>
          <a:custGeom>
            <a:avLst/>
            <a:gdLst/>
            <a:ahLst/>
            <a:cxnLst/>
            <a:rect l="l" t="t" r="r" b="b"/>
            <a:pathLst>
              <a:path w="3485431" h="1114464">
                <a:moveTo>
                  <a:pt x="0" y="0"/>
                </a:moveTo>
                <a:lnTo>
                  <a:pt x="3485431" y="0"/>
                </a:lnTo>
                <a:lnTo>
                  <a:pt x="3485431" y="1114464"/>
                </a:lnTo>
                <a:lnTo>
                  <a:pt x="0" y="11144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5F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48549" y="460927"/>
            <a:ext cx="8656560" cy="2681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89"/>
              </a:lnSpc>
            </a:pPr>
            <a:r>
              <a:rPr lang="en-US" sz="10520" b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</a:t>
            </a:r>
          </a:p>
          <a:p>
            <a:pPr algn="l">
              <a:lnSpc>
                <a:spcPts val="9889"/>
              </a:lnSpc>
            </a:pPr>
            <a:endParaRPr lang="en-US" sz="10520" b="1">
              <a:solidFill>
                <a:srgbClr val="FFF6EA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" name="Freeform 3"/>
          <p:cNvSpPr/>
          <p:nvPr/>
        </p:nvSpPr>
        <p:spPr>
          <a:xfrm flipH="1">
            <a:off x="14336032" y="9597532"/>
            <a:ext cx="4676630" cy="1982844"/>
          </a:xfrm>
          <a:custGeom>
            <a:avLst/>
            <a:gdLst/>
            <a:ahLst/>
            <a:cxnLst/>
            <a:rect l="l" t="t" r="r" b="b"/>
            <a:pathLst>
              <a:path w="4676630" h="1982844">
                <a:moveTo>
                  <a:pt x="4676630" y="0"/>
                </a:moveTo>
                <a:lnTo>
                  <a:pt x="0" y="0"/>
                </a:lnTo>
                <a:lnTo>
                  <a:pt x="0" y="1982845"/>
                </a:lnTo>
                <a:lnTo>
                  <a:pt x="4676630" y="1982845"/>
                </a:lnTo>
                <a:lnTo>
                  <a:pt x="467663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V="1">
            <a:off x="-724662" y="-1293377"/>
            <a:ext cx="4676630" cy="1982844"/>
          </a:xfrm>
          <a:custGeom>
            <a:avLst/>
            <a:gdLst/>
            <a:ahLst/>
            <a:cxnLst/>
            <a:rect l="l" t="t" r="r" b="b"/>
            <a:pathLst>
              <a:path w="4676630" h="1982844">
                <a:moveTo>
                  <a:pt x="0" y="1982845"/>
                </a:moveTo>
                <a:lnTo>
                  <a:pt x="4676630" y="1982845"/>
                </a:lnTo>
                <a:lnTo>
                  <a:pt x="4676630" y="0"/>
                </a:lnTo>
                <a:lnTo>
                  <a:pt x="0" y="0"/>
                </a:lnTo>
                <a:lnTo>
                  <a:pt x="0" y="198284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0800000">
            <a:off x="16722485" y="8029713"/>
            <a:ext cx="926065" cy="926065"/>
          </a:xfrm>
          <a:custGeom>
            <a:avLst/>
            <a:gdLst/>
            <a:ahLst/>
            <a:cxnLst/>
            <a:rect l="l" t="t" r="r" b="b"/>
            <a:pathLst>
              <a:path w="926065" h="926065">
                <a:moveTo>
                  <a:pt x="0" y="0"/>
                </a:moveTo>
                <a:lnTo>
                  <a:pt x="926065" y="0"/>
                </a:lnTo>
                <a:lnTo>
                  <a:pt x="926065" y="926065"/>
                </a:lnTo>
                <a:lnTo>
                  <a:pt x="0" y="9260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10800000">
            <a:off x="639450" y="1331222"/>
            <a:ext cx="778500" cy="778500"/>
          </a:xfrm>
          <a:custGeom>
            <a:avLst/>
            <a:gdLst/>
            <a:ahLst/>
            <a:cxnLst/>
            <a:rect l="l" t="t" r="r" b="b"/>
            <a:pathLst>
              <a:path w="778500" h="778500">
                <a:moveTo>
                  <a:pt x="0" y="0"/>
                </a:moveTo>
                <a:lnTo>
                  <a:pt x="778500" y="0"/>
                </a:lnTo>
                <a:lnTo>
                  <a:pt x="778500" y="778500"/>
                </a:lnTo>
                <a:lnTo>
                  <a:pt x="0" y="778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576900" y="8588215"/>
            <a:ext cx="1084891" cy="1084891"/>
          </a:xfrm>
          <a:custGeom>
            <a:avLst/>
            <a:gdLst/>
            <a:ahLst/>
            <a:cxnLst/>
            <a:rect l="l" t="t" r="r" b="b"/>
            <a:pathLst>
              <a:path w="1084891" h="1084891">
                <a:moveTo>
                  <a:pt x="0" y="0"/>
                </a:moveTo>
                <a:lnTo>
                  <a:pt x="1084891" y="0"/>
                </a:lnTo>
                <a:lnTo>
                  <a:pt x="1084891" y="1084891"/>
                </a:lnTo>
                <a:lnTo>
                  <a:pt x="0" y="10848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039351" y="-1929027"/>
            <a:ext cx="4298061" cy="4298061"/>
          </a:xfrm>
          <a:custGeom>
            <a:avLst/>
            <a:gdLst/>
            <a:ahLst/>
            <a:cxnLst/>
            <a:rect l="l" t="t" r="r" b="b"/>
            <a:pathLst>
              <a:path w="4298061" h="4298061">
                <a:moveTo>
                  <a:pt x="0" y="0"/>
                </a:moveTo>
                <a:lnTo>
                  <a:pt x="4298061" y="0"/>
                </a:lnTo>
                <a:lnTo>
                  <a:pt x="4298061" y="4298060"/>
                </a:lnTo>
                <a:lnTo>
                  <a:pt x="0" y="42980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66368" y="2275232"/>
            <a:ext cx="18288000" cy="6209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4"/>
              </a:lnSpc>
              <a:spcBef>
                <a:spcPct val="0"/>
              </a:spcBef>
            </a:pPr>
            <a:r>
              <a:rPr lang="en-US" sz="2360" b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•The main objective of this project is to develop a secure, scalable, and intelligent Lost &amp; Found Management System using SOA and Microservices Architecture. </a:t>
            </a:r>
          </a:p>
          <a:p>
            <a:pPr algn="ctr">
              <a:lnSpc>
                <a:spcPts val="3304"/>
              </a:lnSpc>
              <a:spcBef>
                <a:spcPct val="0"/>
              </a:spcBef>
            </a:pPr>
            <a:endParaRPr lang="en-US" sz="2360" b="1">
              <a:solidFill>
                <a:srgbClr val="FFF6EA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304"/>
              </a:lnSpc>
              <a:spcBef>
                <a:spcPct val="0"/>
              </a:spcBef>
            </a:pPr>
            <a:endParaRPr lang="en-US" sz="2360" b="1">
              <a:solidFill>
                <a:srgbClr val="FFF6EA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304"/>
              </a:lnSpc>
              <a:spcBef>
                <a:spcPct val="0"/>
              </a:spcBef>
            </a:pPr>
            <a:r>
              <a:rPr lang="en-US" sz="2360" b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•The system aims to provide secure user authentication and role-based authorization using Spring Security and JWT, enable dynamic service registration and discovery using Eureka, and manage service communication through Spring Cloud API Gateway.</a:t>
            </a:r>
          </a:p>
          <a:p>
            <a:pPr algn="ctr">
              <a:lnSpc>
                <a:spcPts val="3304"/>
              </a:lnSpc>
              <a:spcBef>
                <a:spcPct val="0"/>
              </a:spcBef>
            </a:pPr>
            <a:endParaRPr lang="en-US" sz="2360" b="1">
              <a:solidFill>
                <a:srgbClr val="FFF6EA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304"/>
              </a:lnSpc>
              <a:spcBef>
                <a:spcPct val="0"/>
              </a:spcBef>
            </a:pPr>
            <a:endParaRPr lang="en-US" sz="2360" b="1">
              <a:solidFill>
                <a:srgbClr val="FFF6EA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304"/>
              </a:lnSpc>
              <a:spcBef>
                <a:spcPct val="0"/>
              </a:spcBef>
            </a:pPr>
            <a:r>
              <a:rPr lang="en-US" sz="2360" b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•It also aims to integrate an AI Matching Service using TF-IDF and Cosine Similarity to automatically identify potential matches between lost and found item descriptions.</a:t>
            </a:r>
          </a:p>
          <a:p>
            <a:pPr algn="ctr">
              <a:lnSpc>
                <a:spcPts val="3304"/>
              </a:lnSpc>
              <a:spcBef>
                <a:spcPct val="0"/>
              </a:spcBef>
            </a:pPr>
            <a:endParaRPr lang="en-US" sz="2360" b="1">
              <a:solidFill>
                <a:srgbClr val="FFF6EA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304"/>
              </a:lnSpc>
              <a:spcBef>
                <a:spcPct val="0"/>
              </a:spcBef>
            </a:pPr>
            <a:endParaRPr lang="en-US" sz="2360" b="1">
              <a:solidFill>
                <a:srgbClr val="FFF6EA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304"/>
              </a:lnSpc>
              <a:spcBef>
                <a:spcPct val="0"/>
              </a:spcBef>
            </a:pPr>
            <a:r>
              <a:rPr lang="en-US" sz="2360" b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•The project further focuses on improving scalability, maintainability, modularity, and fault tolerance through independent microservices and databases, while following Agile development and testing practices.</a:t>
            </a:r>
          </a:p>
        </p:txBody>
      </p:sp>
      <p:sp>
        <p:nvSpPr>
          <p:cNvPr id="10" name="Freeform 10"/>
          <p:cNvSpPr/>
          <p:nvPr/>
        </p:nvSpPr>
        <p:spPr>
          <a:xfrm>
            <a:off x="14802569" y="101245"/>
            <a:ext cx="3485431" cy="1114464"/>
          </a:xfrm>
          <a:custGeom>
            <a:avLst/>
            <a:gdLst/>
            <a:ahLst/>
            <a:cxnLst/>
            <a:rect l="l" t="t" r="r" b="b"/>
            <a:pathLst>
              <a:path w="3485431" h="1114464">
                <a:moveTo>
                  <a:pt x="0" y="0"/>
                </a:moveTo>
                <a:lnTo>
                  <a:pt x="3485431" y="0"/>
                </a:lnTo>
                <a:lnTo>
                  <a:pt x="3485431" y="1114464"/>
                </a:lnTo>
                <a:lnTo>
                  <a:pt x="0" y="11144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5F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336032" y="9597532"/>
            <a:ext cx="4676630" cy="1982844"/>
          </a:xfrm>
          <a:custGeom>
            <a:avLst/>
            <a:gdLst/>
            <a:ahLst/>
            <a:cxnLst/>
            <a:rect l="l" t="t" r="r" b="b"/>
            <a:pathLst>
              <a:path w="4676630" h="1982844">
                <a:moveTo>
                  <a:pt x="4676630" y="0"/>
                </a:moveTo>
                <a:lnTo>
                  <a:pt x="0" y="0"/>
                </a:lnTo>
                <a:lnTo>
                  <a:pt x="0" y="1982845"/>
                </a:lnTo>
                <a:lnTo>
                  <a:pt x="4676630" y="1982845"/>
                </a:lnTo>
                <a:lnTo>
                  <a:pt x="467663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V="1">
            <a:off x="-724662" y="-1293377"/>
            <a:ext cx="4676630" cy="1982844"/>
          </a:xfrm>
          <a:custGeom>
            <a:avLst/>
            <a:gdLst/>
            <a:ahLst/>
            <a:cxnLst/>
            <a:rect l="l" t="t" r="r" b="b"/>
            <a:pathLst>
              <a:path w="4676630" h="1982844">
                <a:moveTo>
                  <a:pt x="0" y="1982845"/>
                </a:moveTo>
                <a:lnTo>
                  <a:pt x="4676630" y="1982845"/>
                </a:lnTo>
                <a:lnTo>
                  <a:pt x="4676630" y="0"/>
                </a:lnTo>
                <a:lnTo>
                  <a:pt x="0" y="0"/>
                </a:lnTo>
                <a:lnTo>
                  <a:pt x="0" y="198284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6722485" y="8029713"/>
            <a:ext cx="926065" cy="926065"/>
          </a:xfrm>
          <a:custGeom>
            <a:avLst/>
            <a:gdLst/>
            <a:ahLst/>
            <a:cxnLst/>
            <a:rect l="l" t="t" r="r" b="b"/>
            <a:pathLst>
              <a:path w="926065" h="926065">
                <a:moveTo>
                  <a:pt x="0" y="0"/>
                </a:moveTo>
                <a:lnTo>
                  <a:pt x="926065" y="0"/>
                </a:lnTo>
                <a:lnTo>
                  <a:pt x="926065" y="926065"/>
                </a:lnTo>
                <a:lnTo>
                  <a:pt x="0" y="9260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0800000">
            <a:off x="639450" y="1331222"/>
            <a:ext cx="778500" cy="778500"/>
          </a:xfrm>
          <a:custGeom>
            <a:avLst/>
            <a:gdLst/>
            <a:ahLst/>
            <a:cxnLst/>
            <a:rect l="l" t="t" r="r" b="b"/>
            <a:pathLst>
              <a:path w="778500" h="778500">
                <a:moveTo>
                  <a:pt x="0" y="0"/>
                </a:moveTo>
                <a:lnTo>
                  <a:pt x="778500" y="0"/>
                </a:lnTo>
                <a:lnTo>
                  <a:pt x="778500" y="778500"/>
                </a:lnTo>
                <a:lnTo>
                  <a:pt x="0" y="778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V="1">
            <a:off x="16717160" y="1647980"/>
            <a:ext cx="1065754" cy="532877"/>
          </a:xfrm>
          <a:custGeom>
            <a:avLst/>
            <a:gdLst/>
            <a:ahLst/>
            <a:cxnLst/>
            <a:rect l="l" t="t" r="r" b="b"/>
            <a:pathLst>
              <a:path w="1065754" h="532877">
                <a:moveTo>
                  <a:pt x="0" y="532877"/>
                </a:moveTo>
                <a:lnTo>
                  <a:pt x="1065753" y="532877"/>
                </a:lnTo>
                <a:lnTo>
                  <a:pt x="1065753" y="0"/>
                </a:lnTo>
                <a:lnTo>
                  <a:pt x="0" y="0"/>
                </a:lnTo>
                <a:lnTo>
                  <a:pt x="0" y="53287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2049412" y="7869097"/>
            <a:ext cx="4346930" cy="4346930"/>
          </a:xfrm>
          <a:custGeom>
            <a:avLst/>
            <a:gdLst/>
            <a:ahLst/>
            <a:cxnLst/>
            <a:rect l="l" t="t" r="r" b="b"/>
            <a:pathLst>
              <a:path w="4346930" h="4346930">
                <a:moveTo>
                  <a:pt x="0" y="0"/>
                </a:moveTo>
                <a:lnTo>
                  <a:pt x="4346930" y="0"/>
                </a:lnTo>
                <a:lnTo>
                  <a:pt x="4346930" y="4346930"/>
                </a:lnTo>
                <a:lnTo>
                  <a:pt x="0" y="43469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5738676" y="956227"/>
            <a:ext cx="9088967" cy="1478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75"/>
              </a:lnSpc>
            </a:pPr>
            <a:r>
              <a:rPr lang="en-US" sz="5824" b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Literature Survey</a:t>
            </a:r>
          </a:p>
          <a:p>
            <a:pPr algn="l">
              <a:lnSpc>
                <a:spcPts val="5475"/>
              </a:lnSpc>
            </a:pPr>
            <a:endParaRPr lang="en-US" sz="5824" b="1">
              <a:solidFill>
                <a:srgbClr val="FFF6EA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4802569" y="101245"/>
            <a:ext cx="3485431" cy="1114464"/>
          </a:xfrm>
          <a:custGeom>
            <a:avLst/>
            <a:gdLst/>
            <a:ahLst/>
            <a:cxnLst/>
            <a:rect l="l" t="t" r="r" b="b"/>
            <a:pathLst>
              <a:path w="3485431" h="1114464">
                <a:moveTo>
                  <a:pt x="0" y="0"/>
                </a:moveTo>
                <a:lnTo>
                  <a:pt x="3485431" y="0"/>
                </a:lnTo>
                <a:lnTo>
                  <a:pt x="3485431" y="1114464"/>
                </a:lnTo>
                <a:lnTo>
                  <a:pt x="0" y="11144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48014D6-EA50-271E-6488-96281BA8D7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061816"/>
              </p:ext>
            </p:extLst>
          </p:nvPr>
        </p:nvGraphicFramePr>
        <p:xfrm>
          <a:off x="1862287" y="1600200"/>
          <a:ext cx="14368315" cy="7581899"/>
        </p:xfrm>
        <a:graphic>
          <a:graphicData uri="http://schemas.openxmlformats.org/drawingml/2006/table">
            <a:tbl>
              <a:tblPr/>
              <a:tblGrid>
                <a:gridCol w="2873663">
                  <a:extLst>
                    <a:ext uri="{9D8B030D-6E8A-4147-A177-3AD203B41FA5}">
                      <a16:colId xmlns:a16="http://schemas.microsoft.com/office/drawing/2014/main" val="3365035057"/>
                    </a:ext>
                  </a:extLst>
                </a:gridCol>
                <a:gridCol w="2873663">
                  <a:extLst>
                    <a:ext uri="{9D8B030D-6E8A-4147-A177-3AD203B41FA5}">
                      <a16:colId xmlns:a16="http://schemas.microsoft.com/office/drawing/2014/main" val="1999740887"/>
                    </a:ext>
                  </a:extLst>
                </a:gridCol>
                <a:gridCol w="2873663">
                  <a:extLst>
                    <a:ext uri="{9D8B030D-6E8A-4147-A177-3AD203B41FA5}">
                      <a16:colId xmlns:a16="http://schemas.microsoft.com/office/drawing/2014/main" val="146530515"/>
                    </a:ext>
                  </a:extLst>
                </a:gridCol>
                <a:gridCol w="2873663">
                  <a:extLst>
                    <a:ext uri="{9D8B030D-6E8A-4147-A177-3AD203B41FA5}">
                      <a16:colId xmlns:a16="http://schemas.microsoft.com/office/drawing/2014/main" val="2146982416"/>
                    </a:ext>
                  </a:extLst>
                </a:gridCol>
                <a:gridCol w="2873663">
                  <a:extLst>
                    <a:ext uri="{9D8B030D-6E8A-4147-A177-3AD203B41FA5}">
                      <a16:colId xmlns:a16="http://schemas.microsoft.com/office/drawing/2014/main" val="3177500027"/>
                    </a:ext>
                  </a:extLst>
                </a:gridCol>
              </a:tblGrid>
              <a:tr h="1094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effectLst/>
                        </a:rPr>
                        <a:t>Authors</a:t>
                      </a:r>
                    </a:p>
                  </a:txBody>
                  <a:tcPr marL="60216" marR="60216" marT="30108" marB="30108" anchor="ctr">
                    <a:lnL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4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8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</a:rPr>
                        <a:t>Title of the Paper</a:t>
                      </a:r>
                    </a:p>
                  </a:txBody>
                  <a:tcPr marL="60216" marR="60216" marT="30108" marB="30108" anchor="ctr">
                    <a:lnL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4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8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</a:rPr>
                        <a:t>Methodology</a:t>
                      </a:r>
                    </a:p>
                  </a:txBody>
                  <a:tcPr marL="60216" marR="60216" marT="30108" marB="30108" anchor="ctr">
                    <a:lnL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4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8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</a:rPr>
                        <a:t>Inferences</a:t>
                      </a:r>
                    </a:p>
                  </a:txBody>
                  <a:tcPr marL="60216" marR="60216" marT="30108" marB="30108" anchor="ctr">
                    <a:lnL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4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8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</a:rPr>
                        <a:t>Limitation/Future work</a:t>
                      </a:r>
                    </a:p>
                  </a:txBody>
                  <a:tcPr marL="60216" marR="60216" marT="30108" marB="30108" anchor="ctr">
                    <a:lnL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4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8F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820012"/>
                  </a:ext>
                </a:extLst>
              </a:tr>
              <a:tr h="2241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Söylemez et al., 2022</a:t>
                      </a:r>
                    </a:p>
                  </a:txBody>
                  <a:tcPr marL="60216" marR="60216" marT="30108" marB="30108" anchor="ctr">
                    <a:lnL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4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B3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</a:rPr>
                        <a:t>Challenges and Solution Directions of Microservice Architectures: A Systematic Literature Review</a:t>
                      </a:r>
                    </a:p>
                  </a:txBody>
                  <a:tcPr marL="60216" marR="60216" marT="30108" marB="30108" anchor="ctr">
                    <a:lnL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4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B3A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</a:rPr>
                        <a:t>•Systematic Literature Review of 3,842 papers; 85 selected as primary studies</a:t>
                      </a:r>
                      <a:endParaRPr lang="en-US" sz="1800">
                        <a:effectLst/>
                      </a:endParaRPr>
                    </a:p>
                  </a:txBody>
                  <a:tcPr marL="60216" marR="60216" marT="30108" marB="30108" anchor="ctr">
                    <a:lnL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4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B3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•Identifies major challenges in Microservices Architecture, including scalability, reliability, availability, service management and maintainability.</a:t>
                      </a:r>
                    </a:p>
                  </a:txBody>
                  <a:tcPr marL="60216" marR="60216" marT="30108" marB="30108" anchor="ctr">
                    <a:lnL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4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B3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•Further research is required to address the identified challenges and improve successful MSA adoption.</a:t>
                      </a:r>
                    </a:p>
                  </a:txBody>
                  <a:tcPr marL="60216" marR="60216" marT="30108" marB="30108" anchor="ctr">
                    <a:lnL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4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B3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789899"/>
                  </a:ext>
                </a:extLst>
              </a:tr>
              <a:tr h="2241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Tokmak et al., 2024</a:t>
                      </a:r>
                    </a:p>
                  </a:txBody>
                  <a:tcPr marL="60216" marR="60216" marT="30108" marB="30108" anchor="ctr">
                    <a:lnL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B3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Web Service Discovery: Rationale, Challenges, and Solution Directions</a:t>
                      </a:r>
                    </a:p>
                  </a:txBody>
                  <a:tcPr marL="60216" marR="60216" marT="30108" marB="30108" anchor="ctr">
                    <a:lnL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B3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•Systematic Literature Review; 54 papers analyzed</a:t>
                      </a:r>
                    </a:p>
                  </a:txBody>
                  <a:tcPr marL="60216" marR="60216" marT="30108" marB="30108" anchor="ctr">
                    <a:lnL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B3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•Highlights service discovery as an important challenge in SOA and microservice environments and analyzes existing discovery techniques.</a:t>
                      </a:r>
                    </a:p>
                  </a:txBody>
                  <a:tcPr marL="60216" marR="60216" marT="30108" marB="30108" anchor="ctr">
                    <a:lnL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B3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•More effective and scalable service discovery approaches are required as the number of services increases.</a:t>
                      </a:r>
                    </a:p>
                  </a:txBody>
                  <a:tcPr marL="60216" marR="60216" marT="30108" marB="30108" anchor="ctr">
                    <a:lnL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B3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3566218"/>
                  </a:ext>
                </a:extLst>
              </a:tr>
              <a:tr h="2004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Assessment of Performance and Scalability, 2025</a:t>
                      </a:r>
                    </a:p>
                  </a:txBody>
                  <a:tcPr marL="60216" marR="60216" marT="30108" marB="30108" anchor="ctr">
                    <a:lnL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B3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Assessment of Performance and its Scalability in Microservice Architectures: Systematic Literature Review</a:t>
                      </a:r>
                    </a:p>
                  </a:txBody>
                  <a:tcPr marL="60216" marR="60216" marT="30108" marB="30108" anchor="ctr">
                    <a:lnL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B3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•Systematic review of 801 studies; 29 selected for detailed quality assessment</a:t>
                      </a:r>
                    </a:p>
                  </a:txBody>
                  <a:tcPr marL="60216" marR="60216" marT="30108" marB="30108" anchor="ctr">
                    <a:lnL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B3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•Shows that microservice performance and scalability are influenced by architecture, deployment and usage.</a:t>
                      </a:r>
                    </a:p>
                  </a:txBody>
                  <a:tcPr marL="60216" marR="60216" marT="30108" marB="30108" anchor="ctr">
                    <a:lnL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B3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•Existing studies use diverse approaches, making comparison difficult; further standardized evaluation is needed.</a:t>
                      </a:r>
                    </a:p>
                  </a:txBody>
                  <a:tcPr marL="60216" marR="60216" marT="30108" marB="30108" anchor="ctr">
                    <a:lnL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B3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15928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5F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336032" y="9597532"/>
            <a:ext cx="4676630" cy="1982844"/>
          </a:xfrm>
          <a:custGeom>
            <a:avLst/>
            <a:gdLst/>
            <a:ahLst/>
            <a:cxnLst/>
            <a:rect l="l" t="t" r="r" b="b"/>
            <a:pathLst>
              <a:path w="4676630" h="1982844">
                <a:moveTo>
                  <a:pt x="4676630" y="0"/>
                </a:moveTo>
                <a:lnTo>
                  <a:pt x="0" y="0"/>
                </a:lnTo>
                <a:lnTo>
                  <a:pt x="0" y="1982845"/>
                </a:lnTo>
                <a:lnTo>
                  <a:pt x="4676630" y="1982845"/>
                </a:lnTo>
                <a:lnTo>
                  <a:pt x="467663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V="1">
            <a:off x="-724662" y="-1293377"/>
            <a:ext cx="4676630" cy="1982844"/>
          </a:xfrm>
          <a:custGeom>
            <a:avLst/>
            <a:gdLst/>
            <a:ahLst/>
            <a:cxnLst/>
            <a:rect l="l" t="t" r="r" b="b"/>
            <a:pathLst>
              <a:path w="4676630" h="1982844">
                <a:moveTo>
                  <a:pt x="0" y="1982845"/>
                </a:moveTo>
                <a:lnTo>
                  <a:pt x="4676630" y="1982845"/>
                </a:lnTo>
                <a:lnTo>
                  <a:pt x="4676630" y="0"/>
                </a:lnTo>
                <a:lnTo>
                  <a:pt x="0" y="0"/>
                </a:lnTo>
                <a:lnTo>
                  <a:pt x="0" y="198284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6722485" y="8029713"/>
            <a:ext cx="926065" cy="926065"/>
          </a:xfrm>
          <a:custGeom>
            <a:avLst/>
            <a:gdLst/>
            <a:ahLst/>
            <a:cxnLst/>
            <a:rect l="l" t="t" r="r" b="b"/>
            <a:pathLst>
              <a:path w="926065" h="926065">
                <a:moveTo>
                  <a:pt x="0" y="0"/>
                </a:moveTo>
                <a:lnTo>
                  <a:pt x="926065" y="0"/>
                </a:lnTo>
                <a:lnTo>
                  <a:pt x="926065" y="926065"/>
                </a:lnTo>
                <a:lnTo>
                  <a:pt x="0" y="9260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0800000">
            <a:off x="639450" y="1331222"/>
            <a:ext cx="778500" cy="778500"/>
          </a:xfrm>
          <a:custGeom>
            <a:avLst/>
            <a:gdLst/>
            <a:ahLst/>
            <a:cxnLst/>
            <a:rect l="l" t="t" r="r" b="b"/>
            <a:pathLst>
              <a:path w="778500" h="778500">
                <a:moveTo>
                  <a:pt x="0" y="0"/>
                </a:moveTo>
                <a:lnTo>
                  <a:pt x="778500" y="0"/>
                </a:lnTo>
                <a:lnTo>
                  <a:pt x="778500" y="778500"/>
                </a:lnTo>
                <a:lnTo>
                  <a:pt x="0" y="778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576900" y="8588215"/>
            <a:ext cx="1084891" cy="1084891"/>
          </a:xfrm>
          <a:custGeom>
            <a:avLst/>
            <a:gdLst/>
            <a:ahLst/>
            <a:cxnLst/>
            <a:rect l="l" t="t" r="r" b="b"/>
            <a:pathLst>
              <a:path w="1084891" h="1084891">
                <a:moveTo>
                  <a:pt x="0" y="0"/>
                </a:moveTo>
                <a:lnTo>
                  <a:pt x="1084891" y="0"/>
                </a:lnTo>
                <a:lnTo>
                  <a:pt x="1084891" y="1084891"/>
                </a:lnTo>
                <a:lnTo>
                  <a:pt x="0" y="10848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611743" y="-1929027"/>
            <a:ext cx="4725669" cy="4725669"/>
          </a:xfrm>
          <a:custGeom>
            <a:avLst/>
            <a:gdLst/>
            <a:ahLst/>
            <a:cxnLst/>
            <a:rect l="l" t="t" r="r" b="b"/>
            <a:pathLst>
              <a:path w="4725669" h="4725669">
                <a:moveTo>
                  <a:pt x="0" y="0"/>
                </a:moveTo>
                <a:lnTo>
                  <a:pt x="4725669" y="0"/>
                </a:lnTo>
                <a:lnTo>
                  <a:pt x="4725669" y="4725668"/>
                </a:lnTo>
                <a:lnTo>
                  <a:pt x="0" y="4725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8" name="Object 8"/>
          <p:cNvGraphicFramePr/>
          <p:nvPr/>
        </p:nvGraphicFramePr>
        <p:xfrm>
          <a:off x="2278829" y="2362771"/>
          <a:ext cx="12715875" cy="7234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15252700" imgH="9779000" progId="Excel.Sheet.12">
                  <p:embed/>
                </p:oleObj>
              </mc:Choice>
              <mc:Fallback>
                <p:oleObj name="Worksheet" r:id="rId5" imgW="15252700" imgH="97790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78829" y="2362771"/>
                        <a:ext cx="12715875" cy="72347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5232041" y="431902"/>
            <a:ext cx="9099628" cy="2691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82"/>
              </a:lnSpc>
            </a:pPr>
            <a:r>
              <a:rPr lang="en-US" sz="7215" b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Gap Identification</a:t>
            </a:r>
          </a:p>
          <a:p>
            <a:pPr algn="l">
              <a:lnSpc>
                <a:spcPts val="6782"/>
              </a:lnSpc>
            </a:pPr>
            <a:endParaRPr lang="en-US" sz="7215" b="1">
              <a:solidFill>
                <a:srgbClr val="FFF6EA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4802569" y="101245"/>
            <a:ext cx="3485431" cy="1114464"/>
          </a:xfrm>
          <a:custGeom>
            <a:avLst/>
            <a:gdLst/>
            <a:ahLst/>
            <a:cxnLst/>
            <a:rect l="l" t="t" r="r" b="b"/>
            <a:pathLst>
              <a:path w="3485431" h="1114464">
                <a:moveTo>
                  <a:pt x="0" y="0"/>
                </a:moveTo>
                <a:lnTo>
                  <a:pt x="3485431" y="0"/>
                </a:lnTo>
                <a:lnTo>
                  <a:pt x="3485431" y="1114464"/>
                </a:lnTo>
                <a:lnTo>
                  <a:pt x="0" y="11144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5F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336032" y="9597532"/>
            <a:ext cx="4676630" cy="1982844"/>
          </a:xfrm>
          <a:custGeom>
            <a:avLst/>
            <a:gdLst/>
            <a:ahLst/>
            <a:cxnLst/>
            <a:rect l="l" t="t" r="r" b="b"/>
            <a:pathLst>
              <a:path w="4676630" h="1982844">
                <a:moveTo>
                  <a:pt x="4676630" y="0"/>
                </a:moveTo>
                <a:lnTo>
                  <a:pt x="0" y="0"/>
                </a:lnTo>
                <a:lnTo>
                  <a:pt x="0" y="1982845"/>
                </a:lnTo>
                <a:lnTo>
                  <a:pt x="4676630" y="1982845"/>
                </a:lnTo>
                <a:lnTo>
                  <a:pt x="467663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V="1">
            <a:off x="-724662" y="-1293377"/>
            <a:ext cx="4676630" cy="1982844"/>
          </a:xfrm>
          <a:custGeom>
            <a:avLst/>
            <a:gdLst/>
            <a:ahLst/>
            <a:cxnLst/>
            <a:rect l="l" t="t" r="r" b="b"/>
            <a:pathLst>
              <a:path w="4676630" h="1982844">
                <a:moveTo>
                  <a:pt x="0" y="1982845"/>
                </a:moveTo>
                <a:lnTo>
                  <a:pt x="4676630" y="1982845"/>
                </a:lnTo>
                <a:lnTo>
                  <a:pt x="4676630" y="0"/>
                </a:lnTo>
                <a:lnTo>
                  <a:pt x="0" y="0"/>
                </a:lnTo>
                <a:lnTo>
                  <a:pt x="0" y="198284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6722485" y="8029713"/>
            <a:ext cx="926065" cy="926065"/>
          </a:xfrm>
          <a:custGeom>
            <a:avLst/>
            <a:gdLst/>
            <a:ahLst/>
            <a:cxnLst/>
            <a:rect l="l" t="t" r="r" b="b"/>
            <a:pathLst>
              <a:path w="926065" h="926065">
                <a:moveTo>
                  <a:pt x="0" y="0"/>
                </a:moveTo>
                <a:lnTo>
                  <a:pt x="926065" y="0"/>
                </a:lnTo>
                <a:lnTo>
                  <a:pt x="926065" y="926065"/>
                </a:lnTo>
                <a:lnTo>
                  <a:pt x="0" y="9260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0800000">
            <a:off x="639450" y="1331222"/>
            <a:ext cx="778500" cy="778500"/>
          </a:xfrm>
          <a:custGeom>
            <a:avLst/>
            <a:gdLst/>
            <a:ahLst/>
            <a:cxnLst/>
            <a:rect l="l" t="t" r="r" b="b"/>
            <a:pathLst>
              <a:path w="778500" h="778500">
                <a:moveTo>
                  <a:pt x="0" y="0"/>
                </a:moveTo>
                <a:lnTo>
                  <a:pt x="778500" y="0"/>
                </a:lnTo>
                <a:lnTo>
                  <a:pt x="778500" y="778500"/>
                </a:lnTo>
                <a:lnTo>
                  <a:pt x="0" y="778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576900" y="8588215"/>
            <a:ext cx="1084891" cy="1084891"/>
          </a:xfrm>
          <a:custGeom>
            <a:avLst/>
            <a:gdLst/>
            <a:ahLst/>
            <a:cxnLst/>
            <a:rect l="l" t="t" r="r" b="b"/>
            <a:pathLst>
              <a:path w="1084891" h="1084891">
                <a:moveTo>
                  <a:pt x="0" y="0"/>
                </a:moveTo>
                <a:lnTo>
                  <a:pt x="1084891" y="0"/>
                </a:lnTo>
                <a:lnTo>
                  <a:pt x="1084891" y="1084891"/>
                </a:lnTo>
                <a:lnTo>
                  <a:pt x="0" y="10848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611743" y="-1929027"/>
            <a:ext cx="4725669" cy="4725669"/>
          </a:xfrm>
          <a:custGeom>
            <a:avLst/>
            <a:gdLst/>
            <a:ahLst/>
            <a:cxnLst/>
            <a:rect l="l" t="t" r="r" b="b"/>
            <a:pathLst>
              <a:path w="4725669" h="4725669">
                <a:moveTo>
                  <a:pt x="0" y="0"/>
                </a:moveTo>
                <a:lnTo>
                  <a:pt x="4725669" y="0"/>
                </a:lnTo>
                <a:lnTo>
                  <a:pt x="4725669" y="4725668"/>
                </a:lnTo>
                <a:lnTo>
                  <a:pt x="0" y="4725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17950" y="2639619"/>
            <a:ext cx="15467331" cy="6957913"/>
          </a:xfrm>
          <a:custGeom>
            <a:avLst/>
            <a:gdLst/>
            <a:ahLst/>
            <a:cxnLst/>
            <a:rect l="l" t="t" r="r" b="b"/>
            <a:pathLst>
              <a:path w="15467331" h="6957913">
                <a:moveTo>
                  <a:pt x="0" y="0"/>
                </a:moveTo>
                <a:lnTo>
                  <a:pt x="15467331" y="0"/>
                </a:lnTo>
                <a:lnTo>
                  <a:pt x="15467331" y="6957913"/>
                </a:lnTo>
                <a:lnTo>
                  <a:pt x="0" y="69579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47" r="-1179" b="-7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417574" y="1238764"/>
            <a:ext cx="16287637" cy="140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1"/>
              </a:lnSpc>
            </a:pPr>
            <a:r>
              <a:rPr lang="en-US" sz="5501" b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Innovation ,Creativity and  Novelty</a:t>
            </a:r>
          </a:p>
          <a:p>
            <a:pPr algn="l">
              <a:lnSpc>
                <a:spcPts val="5171"/>
              </a:lnSpc>
            </a:pPr>
            <a:endParaRPr lang="en-US" sz="5501" b="1">
              <a:solidFill>
                <a:srgbClr val="FFF6EA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4802569" y="101245"/>
            <a:ext cx="3485431" cy="1114464"/>
          </a:xfrm>
          <a:custGeom>
            <a:avLst/>
            <a:gdLst/>
            <a:ahLst/>
            <a:cxnLst/>
            <a:rect l="l" t="t" r="r" b="b"/>
            <a:pathLst>
              <a:path w="3485431" h="1114464">
                <a:moveTo>
                  <a:pt x="0" y="0"/>
                </a:moveTo>
                <a:lnTo>
                  <a:pt x="3485431" y="0"/>
                </a:lnTo>
                <a:lnTo>
                  <a:pt x="3485431" y="1114464"/>
                </a:lnTo>
                <a:lnTo>
                  <a:pt x="0" y="11144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5F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336032" y="9597532"/>
            <a:ext cx="4676630" cy="1982844"/>
          </a:xfrm>
          <a:custGeom>
            <a:avLst/>
            <a:gdLst/>
            <a:ahLst/>
            <a:cxnLst/>
            <a:rect l="l" t="t" r="r" b="b"/>
            <a:pathLst>
              <a:path w="4676630" h="1982844">
                <a:moveTo>
                  <a:pt x="4676630" y="0"/>
                </a:moveTo>
                <a:lnTo>
                  <a:pt x="0" y="0"/>
                </a:lnTo>
                <a:lnTo>
                  <a:pt x="0" y="1982845"/>
                </a:lnTo>
                <a:lnTo>
                  <a:pt x="4676630" y="1982845"/>
                </a:lnTo>
                <a:lnTo>
                  <a:pt x="467663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V="1">
            <a:off x="-724662" y="-1293377"/>
            <a:ext cx="4676630" cy="1982844"/>
          </a:xfrm>
          <a:custGeom>
            <a:avLst/>
            <a:gdLst/>
            <a:ahLst/>
            <a:cxnLst/>
            <a:rect l="l" t="t" r="r" b="b"/>
            <a:pathLst>
              <a:path w="4676630" h="1982844">
                <a:moveTo>
                  <a:pt x="0" y="1982845"/>
                </a:moveTo>
                <a:lnTo>
                  <a:pt x="4676630" y="1982845"/>
                </a:lnTo>
                <a:lnTo>
                  <a:pt x="4676630" y="0"/>
                </a:lnTo>
                <a:lnTo>
                  <a:pt x="0" y="0"/>
                </a:lnTo>
                <a:lnTo>
                  <a:pt x="0" y="198284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6722485" y="8029713"/>
            <a:ext cx="926065" cy="926065"/>
          </a:xfrm>
          <a:custGeom>
            <a:avLst/>
            <a:gdLst/>
            <a:ahLst/>
            <a:cxnLst/>
            <a:rect l="l" t="t" r="r" b="b"/>
            <a:pathLst>
              <a:path w="926065" h="926065">
                <a:moveTo>
                  <a:pt x="0" y="0"/>
                </a:moveTo>
                <a:lnTo>
                  <a:pt x="926065" y="0"/>
                </a:lnTo>
                <a:lnTo>
                  <a:pt x="926065" y="926065"/>
                </a:lnTo>
                <a:lnTo>
                  <a:pt x="0" y="9260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0800000">
            <a:off x="639450" y="1331222"/>
            <a:ext cx="778500" cy="778500"/>
          </a:xfrm>
          <a:custGeom>
            <a:avLst/>
            <a:gdLst/>
            <a:ahLst/>
            <a:cxnLst/>
            <a:rect l="l" t="t" r="r" b="b"/>
            <a:pathLst>
              <a:path w="778500" h="778500">
                <a:moveTo>
                  <a:pt x="0" y="0"/>
                </a:moveTo>
                <a:lnTo>
                  <a:pt x="778500" y="0"/>
                </a:lnTo>
                <a:lnTo>
                  <a:pt x="778500" y="778500"/>
                </a:lnTo>
                <a:lnTo>
                  <a:pt x="0" y="778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576900" y="8588215"/>
            <a:ext cx="1084891" cy="1084891"/>
          </a:xfrm>
          <a:custGeom>
            <a:avLst/>
            <a:gdLst/>
            <a:ahLst/>
            <a:cxnLst/>
            <a:rect l="l" t="t" r="r" b="b"/>
            <a:pathLst>
              <a:path w="1084891" h="1084891">
                <a:moveTo>
                  <a:pt x="0" y="0"/>
                </a:moveTo>
                <a:lnTo>
                  <a:pt x="1084891" y="0"/>
                </a:lnTo>
                <a:lnTo>
                  <a:pt x="1084891" y="1084891"/>
                </a:lnTo>
                <a:lnTo>
                  <a:pt x="0" y="10848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611743" y="-1929027"/>
            <a:ext cx="4725669" cy="4725669"/>
          </a:xfrm>
          <a:custGeom>
            <a:avLst/>
            <a:gdLst/>
            <a:ahLst/>
            <a:cxnLst/>
            <a:rect l="l" t="t" r="r" b="b"/>
            <a:pathLst>
              <a:path w="4725669" h="4725669">
                <a:moveTo>
                  <a:pt x="0" y="0"/>
                </a:moveTo>
                <a:lnTo>
                  <a:pt x="4725669" y="0"/>
                </a:lnTo>
                <a:lnTo>
                  <a:pt x="4725669" y="4725668"/>
                </a:lnTo>
                <a:lnTo>
                  <a:pt x="0" y="4725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4895311" y="3228376"/>
            <a:ext cx="11965781" cy="5573637"/>
          </a:xfrm>
          <a:custGeom>
            <a:avLst/>
            <a:gdLst/>
            <a:ahLst/>
            <a:cxnLst/>
            <a:rect l="l" t="t" r="r" b="b"/>
            <a:pathLst>
              <a:path w="11965781" h="5573637">
                <a:moveTo>
                  <a:pt x="0" y="0"/>
                </a:moveTo>
                <a:lnTo>
                  <a:pt x="11965781" y="0"/>
                </a:lnTo>
                <a:lnTo>
                  <a:pt x="11965781" y="5573637"/>
                </a:lnTo>
                <a:lnTo>
                  <a:pt x="0" y="55736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5897069" y="835702"/>
            <a:ext cx="9298583" cy="2680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5"/>
              </a:lnSpc>
            </a:pPr>
            <a:r>
              <a:rPr lang="en-US" sz="7187" b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Feasibility and Project Plan</a:t>
            </a:r>
          </a:p>
          <a:p>
            <a:pPr algn="l">
              <a:lnSpc>
                <a:spcPts val="6755"/>
              </a:lnSpc>
            </a:pPr>
            <a:endParaRPr lang="en-US" sz="7187" b="1">
              <a:solidFill>
                <a:srgbClr val="FFF6EA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613653" y="1745366"/>
            <a:ext cx="2378426" cy="6922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71"/>
              </a:lnSpc>
              <a:spcBef>
                <a:spcPct val="0"/>
              </a:spcBef>
            </a:pPr>
            <a:r>
              <a:rPr lang="en-US" sz="3265" b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Duration</a:t>
            </a:r>
          </a:p>
          <a:p>
            <a:pPr algn="ctr">
              <a:lnSpc>
                <a:spcPts val="4571"/>
              </a:lnSpc>
              <a:spcBef>
                <a:spcPct val="0"/>
              </a:spcBef>
            </a:pPr>
            <a:endParaRPr lang="en-US" sz="3265" b="1">
              <a:solidFill>
                <a:srgbClr val="FFF6EA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4571"/>
              </a:lnSpc>
              <a:spcBef>
                <a:spcPct val="0"/>
              </a:spcBef>
            </a:pPr>
            <a:endParaRPr lang="en-US" sz="3265" b="1">
              <a:solidFill>
                <a:srgbClr val="FFF6EA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4571"/>
              </a:lnSpc>
              <a:spcBef>
                <a:spcPct val="0"/>
              </a:spcBef>
            </a:pPr>
            <a:r>
              <a:rPr lang="en-US" sz="3265" b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1 WEEKS</a:t>
            </a:r>
          </a:p>
          <a:p>
            <a:pPr algn="ctr">
              <a:lnSpc>
                <a:spcPts val="4571"/>
              </a:lnSpc>
              <a:spcBef>
                <a:spcPct val="0"/>
              </a:spcBef>
            </a:pPr>
            <a:endParaRPr lang="en-US" sz="3265" b="1">
              <a:solidFill>
                <a:srgbClr val="FFF6EA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4571"/>
              </a:lnSpc>
              <a:spcBef>
                <a:spcPct val="0"/>
              </a:spcBef>
            </a:pPr>
            <a:r>
              <a:rPr lang="en-US" sz="3265" b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1-2 WEEKS</a:t>
            </a:r>
          </a:p>
          <a:p>
            <a:pPr algn="ctr">
              <a:lnSpc>
                <a:spcPts val="4571"/>
              </a:lnSpc>
              <a:spcBef>
                <a:spcPct val="0"/>
              </a:spcBef>
            </a:pPr>
            <a:r>
              <a:rPr lang="en-US" sz="3265" b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ctr">
              <a:lnSpc>
                <a:spcPts val="4571"/>
              </a:lnSpc>
              <a:spcBef>
                <a:spcPct val="0"/>
              </a:spcBef>
            </a:pPr>
            <a:r>
              <a:rPr lang="en-US" sz="3265" b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1 WEEK</a:t>
            </a:r>
          </a:p>
          <a:p>
            <a:pPr algn="ctr">
              <a:lnSpc>
                <a:spcPts val="4571"/>
              </a:lnSpc>
              <a:spcBef>
                <a:spcPct val="0"/>
              </a:spcBef>
            </a:pPr>
            <a:r>
              <a:rPr lang="en-US" sz="3265" b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ctr">
              <a:lnSpc>
                <a:spcPts val="4571"/>
              </a:lnSpc>
              <a:spcBef>
                <a:spcPct val="0"/>
              </a:spcBef>
            </a:pPr>
            <a:r>
              <a:rPr lang="en-US" sz="3265" b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1-2 WEEKS</a:t>
            </a:r>
          </a:p>
          <a:p>
            <a:pPr algn="ctr">
              <a:lnSpc>
                <a:spcPts val="4571"/>
              </a:lnSpc>
              <a:spcBef>
                <a:spcPct val="0"/>
              </a:spcBef>
            </a:pPr>
            <a:r>
              <a:rPr lang="en-US" sz="3265" b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ctr">
              <a:lnSpc>
                <a:spcPts val="4571"/>
              </a:lnSpc>
              <a:spcBef>
                <a:spcPct val="0"/>
              </a:spcBef>
            </a:pPr>
            <a:r>
              <a:rPr lang="en-US" sz="3265" b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1 WEEK</a:t>
            </a:r>
          </a:p>
        </p:txBody>
      </p:sp>
      <p:sp>
        <p:nvSpPr>
          <p:cNvPr id="11" name="Freeform 11"/>
          <p:cNvSpPr/>
          <p:nvPr/>
        </p:nvSpPr>
        <p:spPr>
          <a:xfrm>
            <a:off x="14802569" y="101245"/>
            <a:ext cx="3485431" cy="1114464"/>
          </a:xfrm>
          <a:custGeom>
            <a:avLst/>
            <a:gdLst/>
            <a:ahLst/>
            <a:cxnLst/>
            <a:rect l="l" t="t" r="r" b="b"/>
            <a:pathLst>
              <a:path w="3485431" h="1114464">
                <a:moveTo>
                  <a:pt x="0" y="0"/>
                </a:moveTo>
                <a:lnTo>
                  <a:pt x="3485431" y="0"/>
                </a:lnTo>
                <a:lnTo>
                  <a:pt x="3485431" y="1114464"/>
                </a:lnTo>
                <a:lnTo>
                  <a:pt x="0" y="11144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5F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336032" y="9597532"/>
            <a:ext cx="4676630" cy="1982844"/>
          </a:xfrm>
          <a:custGeom>
            <a:avLst/>
            <a:gdLst/>
            <a:ahLst/>
            <a:cxnLst/>
            <a:rect l="l" t="t" r="r" b="b"/>
            <a:pathLst>
              <a:path w="4676630" h="1982844">
                <a:moveTo>
                  <a:pt x="4676630" y="0"/>
                </a:moveTo>
                <a:lnTo>
                  <a:pt x="0" y="0"/>
                </a:lnTo>
                <a:lnTo>
                  <a:pt x="0" y="1982845"/>
                </a:lnTo>
                <a:lnTo>
                  <a:pt x="4676630" y="1982845"/>
                </a:lnTo>
                <a:lnTo>
                  <a:pt x="467663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V="1">
            <a:off x="-724662" y="-1293377"/>
            <a:ext cx="4676630" cy="1982844"/>
          </a:xfrm>
          <a:custGeom>
            <a:avLst/>
            <a:gdLst/>
            <a:ahLst/>
            <a:cxnLst/>
            <a:rect l="l" t="t" r="r" b="b"/>
            <a:pathLst>
              <a:path w="4676630" h="1982844">
                <a:moveTo>
                  <a:pt x="0" y="1982845"/>
                </a:moveTo>
                <a:lnTo>
                  <a:pt x="4676630" y="1982845"/>
                </a:lnTo>
                <a:lnTo>
                  <a:pt x="4676630" y="0"/>
                </a:lnTo>
                <a:lnTo>
                  <a:pt x="0" y="0"/>
                </a:lnTo>
                <a:lnTo>
                  <a:pt x="0" y="198284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6722485" y="8029713"/>
            <a:ext cx="926065" cy="926065"/>
          </a:xfrm>
          <a:custGeom>
            <a:avLst/>
            <a:gdLst/>
            <a:ahLst/>
            <a:cxnLst/>
            <a:rect l="l" t="t" r="r" b="b"/>
            <a:pathLst>
              <a:path w="926065" h="926065">
                <a:moveTo>
                  <a:pt x="0" y="0"/>
                </a:moveTo>
                <a:lnTo>
                  <a:pt x="926065" y="0"/>
                </a:lnTo>
                <a:lnTo>
                  <a:pt x="926065" y="926065"/>
                </a:lnTo>
                <a:lnTo>
                  <a:pt x="0" y="9260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0800000">
            <a:off x="639450" y="1331222"/>
            <a:ext cx="778500" cy="778500"/>
          </a:xfrm>
          <a:custGeom>
            <a:avLst/>
            <a:gdLst/>
            <a:ahLst/>
            <a:cxnLst/>
            <a:rect l="l" t="t" r="r" b="b"/>
            <a:pathLst>
              <a:path w="778500" h="778500">
                <a:moveTo>
                  <a:pt x="0" y="0"/>
                </a:moveTo>
                <a:lnTo>
                  <a:pt x="778500" y="0"/>
                </a:lnTo>
                <a:lnTo>
                  <a:pt x="778500" y="778500"/>
                </a:lnTo>
                <a:lnTo>
                  <a:pt x="0" y="778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V="1">
            <a:off x="16717160" y="1647980"/>
            <a:ext cx="1065754" cy="532877"/>
          </a:xfrm>
          <a:custGeom>
            <a:avLst/>
            <a:gdLst/>
            <a:ahLst/>
            <a:cxnLst/>
            <a:rect l="l" t="t" r="r" b="b"/>
            <a:pathLst>
              <a:path w="1065754" h="532877">
                <a:moveTo>
                  <a:pt x="0" y="532877"/>
                </a:moveTo>
                <a:lnTo>
                  <a:pt x="1065753" y="532877"/>
                </a:lnTo>
                <a:lnTo>
                  <a:pt x="1065753" y="0"/>
                </a:lnTo>
                <a:lnTo>
                  <a:pt x="0" y="0"/>
                </a:lnTo>
                <a:lnTo>
                  <a:pt x="0" y="53287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2049412" y="7869097"/>
            <a:ext cx="4346930" cy="4346930"/>
          </a:xfrm>
          <a:custGeom>
            <a:avLst/>
            <a:gdLst/>
            <a:ahLst/>
            <a:cxnLst/>
            <a:rect l="l" t="t" r="r" b="b"/>
            <a:pathLst>
              <a:path w="4346930" h="4346930">
                <a:moveTo>
                  <a:pt x="0" y="0"/>
                </a:moveTo>
                <a:lnTo>
                  <a:pt x="4346930" y="0"/>
                </a:lnTo>
                <a:lnTo>
                  <a:pt x="4346930" y="4346930"/>
                </a:lnTo>
                <a:lnTo>
                  <a:pt x="0" y="43469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1698898" y="3384473"/>
            <a:ext cx="4181734" cy="4181734"/>
          </a:xfrm>
          <a:custGeom>
            <a:avLst/>
            <a:gdLst/>
            <a:ahLst/>
            <a:cxnLst/>
            <a:rect l="l" t="t" r="r" b="b"/>
            <a:pathLst>
              <a:path w="4181734" h="4181734">
                <a:moveTo>
                  <a:pt x="0" y="0"/>
                </a:moveTo>
                <a:lnTo>
                  <a:pt x="4181734" y="0"/>
                </a:lnTo>
                <a:lnTo>
                  <a:pt x="4181734" y="4181734"/>
                </a:lnTo>
                <a:lnTo>
                  <a:pt x="0" y="41817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5294190" y="1181100"/>
            <a:ext cx="7699619" cy="1385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32"/>
              </a:lnSpc>
            </a:pPr>
            <a:r>
              <a:rPr lang="en-US" sz="10140" b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3618367"/>
            <a:ext cx="8952212" cy="4411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0"/>
              </a:lnSpc>
              <a:spcBef>
                <a:spcPct val="0"/>
              </a:spcBef>
            </a:pPr>
            <a:r>
              <a:rPr lang="en-US" sz="4193" b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“The project provides a scalable and efficient microservices-based platform to simplify the process of reporting, finding, and recovering lost items on campus.”</a:t>
            </a:r>
          </a:p>
        </p:txBody>
      </p:sp>
      <p:sp>
        <p:nvSpPr>
          <p:cNvPr id="11" name="Freeform 11"/>
          <p:cNvSpPr/>
          <p:nvPr/>
        </p:nvSpPr>
        <p:spPr>
          <a:xfrm>
            <a:off x="14802569" y="101245"/>
            <a:ext cx="3485431" cy="1114464"/>
          </a:xfrm>
          <a:custGeom>
            <a:avLst/>
            <a:gdLst/>
            <a:ahLst/>
            <a:cxnLst/>
            <a:rect l="l" t="t" r="r" b="b"/>
            <a:pathLst>
              <a:path w="3485431" h="1114464">
                <a:moveTo>
                  <a:pt x="0" y="0"/>
                </a:moveTo>
                <a:lnTo>
                  <a:pt x="3485431" y="0"/>
                </a:lnTo>
                <a:lnTo>
                  <a:pt x="3485431" y="1114464"/>
                </a:lnTo>
                <a:lnTo>
                  <a:pt x="0" y="11144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5F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94468" y="8785960"/>
            <a:ext cx="4676630" cy="1982844"/>
          </a:xfrm>
          <a:custGeom>
            <a:avLst/>
            <a:gdLst/>
            <a:ahLst/>
            <a:cxnLst/>
            <a:rect l="l" t="t" r="r" b="b"/>
            <a:pathLst>
              <a:path w="4676630" h="1982844">
                <a:moveTo>
                  <a:pt x="0" y="0"/>
                </a:moveTo>
                <a:lnTo>
                  <a:pt x="4676629" y="0"/>
                </a:lnTo>
                <a:lnTo>
                  <a:pt x="4676629" y="1982845"/>
                </a:lnTo>
                <a:lnTo>
                  <a:pt x="0" y="1982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14430689" y="-481805"/>
            <a:ext cx="4451779" cy="1887510"/>
          </a:xfrm>
          <a:custGeom>
            <a:avLst/>
            <a:gdLst/>
            <a:ahLst/>
            <a:cxnLst/>
            <a:rect l="l" t="t" r="r" b="b"/>
            <a:pathLst>
              <a:path w="4451779" h="1887510">
                <a:moveTo>
                  <a:pt x="0" y="0"/>
                </a:moveTo>
                <a:lnTo>
                  <a:pt x="4451779" y="0"/>
                </a:lnTo>
                <a:lnTo>
                  <a:pt x="4451779" y="1887510"/>
                </a:lnTo>
                <a:lnTo>
                  <a:pt x="0" y="1887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532486" y="2978602"/>
            <a:ext cx="1243380" cy="621690"/>
          </a:xfrm>
          <a:custGeom>
            <a:avLst/>
            <a:gdLst/>
            <a:ahLst/>
            <a:cxnLst/>
            <a:rect l="l" t="t" r="r" b="b"/>
            <a:pathLst>
              <a:path w="1243380" h="621690">
                <a:moveTo>
                  <a:pt x="0" y="0"/>
                </a:moveTo>
                <a:lnTo>
                  <a:pt x="1243380" y="0"/>
                </a:lnTo>
                <a:lnTo>
                  <a:pt x="1243380" y="621690"/>
                </a:lnTo>
                <a:lnTo>
                  <a:pt x="0" y="62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V="1">
            <a:off x="16512134" y="6686708"/>
            <a:ext cx="1243380" cy="621690"/>
          </a:xfrm>
          <a:custGeom>
            <a:avLst/>
            <a:gdLst/>
            <a:ahLst/>
            <a:cxnLst/>
            <a:rect l="l" t="t" r="r" b="b"/>
            <a:pathLst>
              <a:path w="1243380" h="621690">
                <a:moveTo>
                  <a:pt x="0" y="621690"/>
                </a:moveTo>
                <a:lnTo>
                  <a:pt x="1243380" y="621690"/>
                </a:lnTo>
                <a:lnTo>
                  <a:pt x="1243380" y="0"/>
                </a:lnTo>
                <a:lnTo>
                  <a:pt x="0" y="0"/>
                </a:lnTo>
                <a:lnTo>
                  <a:pt x="0" y="6216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10800000">
            <a:off x="1028295" y="8258931"/>
            <a:ext cx="999369" cy="999369"/>
          </a:xfrm>
          <a:custGeom>
            <a:avLst/>
            <a:gdLst/>
            <a:ahLst/>
            <a:cxnLst/>
            <a:rect l="l" t="t" r="r" b="b"/>
            <a:pathLst>
              <a:path w="999369" h="999369">
                <a:moveTo>
                  <a:pt x="0" y="0"/>
                </a:moveTo>
                <a:lnTo>
                  <a:pt x="999369" y="0"/>
                </a:lnTo>
                <a:lnTo>
                  <a:pt x="999369" y="999369"/>
                </a:lnTo>
                <a:lnTo>
                  <a:pt x="0" y="9993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10800000">
            <a:off x="16296988" y="1028700"/>
            <a:ext cx="962717" cy="962717"/>
          </a:xfrm>
          <a:custGeom>
            <a:avLst/>
            <a:gdLst/>
            <a:ahLst/>
            <a:cxnLst/>
            <a:rect l="l" t="t" r="r" b="b"/>
            <a:pathLst>
              <a:path w="962717" h="962717">
                <a:moveTo>
                  <a:pt x="0" y="0"/>
                </a:moveTo>
                <a:lnTo>
                  <a:pt x="962717" y="0"/>
                </a:lnTo>
                <a:lnTo>
                  <a:pt x="962717" y="962717"/>
                </a:lnTo>
                <a:lnTo>
                  <a:pt x="0" y="962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746048" y="3121380"/>
            <a:ext cx="12795903" cy="4310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86"/>
              </a:lnSpc>
            </a:pPr>
            <a:r>
              <a:rPr lang="en-US" sz="16901" b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Thank</a:t>
            </a:r>
          </a:p>
          <a:p>
            <a:pPr algn="ctr">
              <a:lnSpc>
                <a:spcPts val="15886"/>
              </a:lnSpc>
            </a:pPr>
            <a:r>
              <a:rPr lang="en-US" sz="16901" b="1">
                <a:solidFill>
                  <a:srgbClr val="FFF6EA"/>
                </a:solidFill>
                <a:latin typeface="Poppins Bold"/>
                <a:ea typeface="Poppins Bold"/>
                <a:cs typeface="Poppins Bold"/>
                <a:sym typeface="Poppins Bold"/>
              </a:rPr>
              <a:t>You</a:t>
            </a:r>
          </a:p>
        </p:txBody>
      </p:sp>
      <p:sp>
        <p:nvSpPr>
          <p:cNvPr id="9" name="Freeform 9"/>
          <p:cNvSpPr/>
          <p:nvPr/>
        </p:nvSpPr>
        <p:spPr>
          <a:xfrm>
            <a:off x="14922046" y="75349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flipH="1" flipV="1">
            <a:off x="-748846" y="-13627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585</Words>
  <Application>Microsoft Office PowerPoint</Application>
  <PresentationFormat>Custom</PresentationFormat>
  <Paragraphs>69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Poppins Bold</vt:lpstr>
      <vt:lpstr>Calibri</vt:lpstr>
      <vt:lpstr>Arial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SOA Project Review-1</dc:title>
  <cp:lastModifiedBy>Dama Poojitha .</cp:lastModifiedBy>
  <cp:revision>3</cp:revision>
  <dcterms:created xsi:type="dcterms:W3CDTF">2006-08-16T00:00:00Z</dcterms:created>
  <dcterms:modified xsi:type="dcterms:W3CDTF">2026-08-20T08:12:01Z</dcterms:modified>
  <dc:identifier>DAHSzFUSEwg</dc:identifier>
</cp:coreProperties>
</file>